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3949AB"/>
              </a:solidFill>
            </c:spPr>
          </c:dPt>
          <c:dPt>
            <c:idx val="1"/>
            <c:spPr>
              <a:solidFill>
                <a:srgbClr val="E91E8C"/>
              </a:solidFill>
            </c:spPr>
          </c:dPt>
          <c:cat>
            <c:strRef>
              <c:f>Sheet1!$A$2:$A$3</c:f>
              <c:strCache>
                <c:ptCount val="2"/>
                <c:pt idx="0">
                  <c:v>Masculino</c:v>
                </c:pt>
                <c:pt idx="1">
                  <c:v>Feminino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3A047"/>
              </a:solidFill>
            </c:spPr>
          </c:dPt>
          <c:dPt>
            <c:idx val="1"/>
            <c:spPr>
              <a:solidFill>
                <a:srgbClr val="FB8C00"/>
              </a:solidFill>
            </c:spPr>
          </c:dPt>
          <c:cat>
            <c:strRef>
              <c:f>Sheet1!$A$2:$A$3</c:f>
              <c:strCache>
                <c:ptCount val="2"/>
                <c:pt idx="0">
                  <c:v>Já Incorporados</c:v>
                </c:pt>
                <c:pt idx="1">
                  <c:v>Não Incorporados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565C0"/>
            </a:solidFill>
          </c:spPr>
          <c:cat>
            <c:strRef>
              <c:f>Sheet1!$A$2:$A$6</c:f>
              <c:strCache>
                <c:ptCount val="5"/>
                <c:pt idx="0">
                  <c:v>0 a 1 ano</c:v>
                </c:pt>
                <c:pt idx="1">
                  <c:v>1 a 3 anos</c:v>
                </c:pt>
                <c:pt idx="2">
                  <c:v>3 a 5 anos</c:v>
                </c:pt>
                <c:pt idx="3">
                  <c:v>5 a 10 anos</c:v>
                </c:pt>
                <c:pt idx="4">
                  <c:v>10+ anos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18</c:v>
                </c:pt>
                <c:pt idx="2">
                  <c:v>8</c:v>
                </c:pt>
                <c:pt idx="3">
                  <c:v>15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3A047"/>
              </a:solidFill>
            </c:spPr>
          </c:dPt>
          <c:dPt>
            <c:idx val="1"/>
            <c:spPr>
              <a:solidFill>
                <a:srgbClr val="FDD835"/>
              </a:solidFill>
            </c:spPr>
          </c:dPt>
          <c:cat>
            <c:strRef>
              <c:f>Sheet1!$A$2:$A$3</c:f>
              <c:strCache>
                <c:ptCount val="2"/>
                <c:pt idx="0">
                  <c:v>Regulares</c:v>
                </c:pt>
                <c:pt idx="1">
                  <c:v>Sub Judice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1565C0"/>
              </a:solidFill>
            </c:spPr>
          </c:dPt>
          <c:dPt>
            <c:idx val="1"/>
            <c:spPr>
              <a:solidFill>
                <a:srgbClr val="FB8C00"/>
              </a:solidFill>
            </c:spPr>
          </c:dPt>
          <c:cat>
            <c:strRef>
              <c:f>Sheet1!$A$2:$A$3</c:f>
              <c:strCache>
                <c:ptCount val="2"/>
                <c:pt idx="0">
                  <c:v>Militares</c:v>
                </c:pt>
                <c:pt idx="1">
                  <c:v>Civis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1565C0"/>
              </a:solidFill>
            </c:spPr>
          </c:dPt>
          <c:dPt>
            <c:idx val="1"/>
            <c:spPr>
              <a:solidFill>
                <a:srgbClr val="43A047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cat>
            <c:strRef>
              <c:f>Sheet1!$A$2:$A$4</c:f>
              <c:strCache>
                <c:ptCount val="3"/>
                <c:pt idx="0">
                  <c:v>Sup. Completo (45%)</c:v>
                </c:pt>
                <c:pt idx="1">
                  <c:v>Médio Completo (34%)</c:v>
                </c:pt>
                <c:pt idx="2">
                  <c:v>Sup. Incompleto (21%)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31</c:v>
                </c:pt>
                <c:pt idx="2">
                  <c:v>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43A047"/>
              </a:solidFill>
            </c:spPr>
          </c:dPt>
          <c:dPt>
            <c:idx val="2"/>
            <c:spPr>
              <a:solidFill>
                <a:srgbClr val="FB8C00"/>
              </a:solidFill>
            </c:spPr>
          </c:dPt>
          <c:cat>
            <c:strRef>
              <c:f>Sheet1!$A$2:$A$4</c:f>
              <c:strCache>
                <c:ptCount val="3"/>
                <c:pt idx="0">
                  <c:v>C (34,07%)</c:v>
                </c:pt>
                <c:pt idx="1">
                  <c:v>D (32,97%)</c:v>
                </c:pt>
                <c:pt idx="2">
                  <c:v>E (32,97%)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Relationship Id="rId8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55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POLÍCIA MILITAR DA BAHIA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</a:rPr>
              <a:t>ACADEMIA DE POLÍCIA MILITAR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</a:rPr>
              <a:t>CEL PM ANTÔNIO MEDEIROS DE AZEVÊDO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7432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8A020"/>
                </a:solidFill>
              </a:rPr>
              <a:t>1º CFO PM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3832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DASHBOARD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5669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8A020"/>
                </a:solidFill>
              </a:rPr>
              <a:t>✦  DISCIPLINA, HONRA E TRADIÇÃO  ✦</a:t>
            </a:r>
          </a:p>
        </p:txBody>
      </p:sp>
      <p:sp>
        <p:nvSpPr>
          <p:cNvPr id="9" name="Rectangle 8"/>
          <p:cNvSpPr/>
          <p:nvPr/>
        </p:nvSpPr>
        <p:spPr>
          <a:xfrm>
            <a:off x="9738360" y="64008"/>
            <a:ext cx="2331720" cy="667512"/>
          </a:xfrm>
          <a:prstGeom prst="rect">
            <a:avLst/>
          </a:prstGeom>
          <a:solidFill>
            <a:srgbClr val="132B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65792" y="82296"/>
            <a:ext cx="2276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A020"/>
                </a:solidFill>
              </a:rPr>
              <a:t>DADOS DE REFERÊNCIA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792" y="256032"/>
            <a:ext cx="227685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Documentos enviados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65792" y="411480"/>
            <a:ext cx="227685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Atualização: Maio/2025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868680"/>
            <a:ext cx="4343400" cy="1435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868680"/>
            <a:ext cx="4343400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886968"/>
            <a:ext cx="4270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RESUMO GERAL DO EFETIVO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1106424"/>
            <a:ext cx="841248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1124712"/>
            <a:ext cx="8412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777777"/>
                </a:solidFill>
              </a:rPr>
              <a:t>EFETIVO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" y="1243584"/>
            <a:ext cx="841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628"/>
                </a:solidFill>
              </a:rPr>
              <a:t>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" y="1627631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A1628"/>
                </a:solidFill>
              </a:rPr>
              <a:t>ALUNOS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1252728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7E"/>
                </a:solidFill>
              </a:rPr>
              <a:t>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1600200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44444"/>
                </a:solidFill>
              </a:rPr>
              <a:t>MASCULINO (79,12%)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7" y="1252728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600200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44444"/>
                </a:solidFill>
              </a:rPr>
              <a:t>FEMININO (20,88%)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24912" y="1106424"/>
            <a:ext cx="822960" cy="749808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24912" y="11430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1490472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JÁ INCORPORADOS
(54,95%)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93592" y="1106424"/>
            <a:ext cx="795528" cy="749808"/>
          </a:xfrm>
          <a:prstGeom prst="rect">
            <a:avLst/>
          </a:prstGeom>
          <a:solidFill>
            <a:srgbClr val="FFF3E0"/>
          </a:solidFill>
          <a:ln w="6350">
            <a:solidFill>
              <a:srgbClr val="FF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1143000"/>
            <a:ext cx="795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5100"/>
                </a:solidFill>
              </a:rPr>
              <a:t>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1490472"/>
            <a:ext cx="813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NÃO INCORPORADOS
(45,05%)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1920239"/>
            <a:ext cx="1691640" cy="310896"/>
          </a:xfrm>
          <a:prstGeom prst="rect">
            <a:avLst/>
          </a:prstGeom>
          <a:solidFill>
            <a:srgbClr val="FFF9C4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" y="1975104"/>
            <a:ext cx="1655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65100"/>
                </a:solidFill>
              </a:rPr>
              <a:t>SUB JUDICE: 6 (6,59%)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1952" y="1920239"/>
            <a:ext cx="2395728" cy="310896"/>
          </a:xfrm>
          <a:prstGeom prst="rect">
            <a:avLst/>
          </a:prstGeom>
          <a:solidFill>
            <a:srgbClr val="E8F5E9"/>
          </a:solidFill>
          <a:ln w="63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1975104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E7D32"/>
                </a:solidFill>
              </a:rPr>
              <a:t>REGULARES: 85 (93,41%)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35424" y="868680"/>
            <a:ext cx="2057400" cy="1435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35424" y="868680"/>
            <a:ext cx="2057400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886968"/>
            <a:ext cx="1984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DISTRIBUIÇÃO POR SEXO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4626864" y="1088136"/>
          <a:ext cx="1874519" cy="11704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8" name="Rectangle 37"/>
          <p:cNvSpPr/>
          <p:nvPr/>
        </p:nvSpPr>
        <p:spPr>
          <a:xfrm>
            <a:off x="6656832" y="868680"/>
            <a:ext cx="2057400" cy="1435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56832" y="868680"/>
            <a:ext cx="2057400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886968"/>
            <a:ext cx="1984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SITUAÇÃO FUNCIONAL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6748272" y="1088136"/>
          <a:ext cx="1874519" cy="11704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2" name="Rectangle 41"/>
          <p:cNvSpPr/>
          <p:nvPr/>
        </p:nvSpPr>
        <p:spPr>
          <a:xfrm>
            <a:off x="8778240" y="868680"/>
            <a:ext cx="3319272" cy="1435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868680"/>
            <a:ext cx="3319272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14815" y="886968"/>
            <a:ext cx="3246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PERFIL ETÁRIO (TODOS)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392" y="1106424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</a:rPr>
              <a:t>Idade mínima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57232" y="1106424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1628"/>
                </a:solidFill>
              </a:rPr>
              <a:t>18 anos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1392" y="128473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</a:rPr>
              <a:t>Idade máxima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7232" y="1284732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1628"/>
                </a:solidFill>
              </a:rPr>
              <a:t>42 anos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1392" y="146304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</a:rPr>
              <a:t>Média de idade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57232" y="146304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1628"/>
                </a:solidFill>
              </a:rPr>
              <a:t>26,59 anos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51392" y="164134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</a:rPr>
              <a:t>Mediana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57232" y="1641348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1628"/>
                </a:solidFill>
              </a:rPr>
              <a:t>26 anos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51392" y="181965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</a:rPr>
              <a:t>Moda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57232" y="1819656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1628"/>
                </a:solidFill>
              </a:rPr>
              <a:t>21 anos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89920" y="1088136"/>
            <a:ext cx="1243584" cy="1965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808208" y="1097280"/>
            <a:ext cx="535472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Faixa Etária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80256" y="1097280"/>
            <a:ext cx="261884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78716" y="1097280"/>
            <a:ext cx="336499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1" i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89920" y="1284732"/>
            <a:ext cx="1243584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08208" y="1293876"/>
            <a:ext cx="535472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18 a 23 anos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80256" y="1293876"/>
            <a:ext cx="2618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34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678716" y="1293876"/>
            <a:ext cx="336499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37,36%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789920" y="1463040"/>
            <a:ext cx="1243584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08208" y="1472184"/>
            <a:ext cx="535472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24 a 29 anos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80256" y="1472184"/>
            <a:ext cx="2618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37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78716" y="1472184"/>
            <a:ext cx="336499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40,66%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789920" y="1641348"/>
            <a:ext cx="1243584" cy="178308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08208" y="1650492"/>
            <a:ext cx="535472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30 a 35 anos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80256" y="1650492"/>
            <a:ext cx="2618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678716" y="1650492"/>
            <a:ext cx="336499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15,38%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89920" y="1819656"/>
            <a:ext cx="1243584" cy="17830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08208" y="1828800"/>
            <a:ext cx="535472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36 ou mais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380256" y="1828800"/>
            <a:ext cx="2618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678716" y="1828800"/>
            <a:ext cx="336499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6,59%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89920" y="1997964"/>
            <a:ext cx="1243584" cy="178308"/>
          </a:xfrm>
          <a:prstGeom prst="rect">
            <a:avLst/>
          </a:prstGeom>
          <a:solidFill>
            <a:srgbClr val="DDEE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808208" y="2007107"/>
            <a:ext cx="535472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A1628"/>
                </a:solidFill>
              </a:rPr>
              <a:t>TOTAL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80256" y="2007107"/>
            <a:ext cx="2618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0A1628"/>
                </a:solidFill>
              </a:rPr>
              <a:t>91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678716" y="2007107"/>
            <a:ext cx="336499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1" i="0">
                <a:solidFill>
                  <a:srgbClr val="0A1628"/>
                </a:solidFill>
              </a:rPr>
              <a:t>100%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" y="2377440"/>
            <a:ext cx="598932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" y="2377440"/>
            <a:ext cx="5989320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8016" y="2395728"/>
            <a:ext cx="59161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EXPERIÊNCIA POLICIAL (TEMPO DE SERVIÇO)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7160" y="2615184"/>
            <a:ext cx="1325880" cy="768096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73736" y="2633472"/>
            <a:ext cx="1252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777777"/>
                </a:solidFill>
              </a:rPr>
              <a:t>MÉDIA GERAL
(TODOS)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7160" y="2798064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628"/>
                </a:solidFill>
              </a:rPr>
              <a:t>3,12 anos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3736" y="3145536"/>
            <a:ext cx="1252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</a:rPr>
              <a:t>(1.141 dias)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08760" y="2615184"/>
            <a:ext cx="1417320" cy="768096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45336" y="2633472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777777"/>
                </a:solidFill>
              </a:rPr>
              <a:t>MÉDIA ENTRE
JÁ INCORPORADOS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08760" y="279806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7D32"/>
                </a:solidFill>
              </a:rPr>
              <a:t>5,80 anos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45336" y="3145536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</a:rPr>
              <a:t>(2.120 dias)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971800" y="2615184"/>
            <a:ext cx="1417320" cy="768096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008376" y="2633472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777777"/>
                </a:solidFill>
              </a:rPr>
              <a:t>PRAÇA MAIS ANTIGA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71800" y="279806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A1B9A"/>
                </a:solidFill>
              </a:rPr>
              <a:t>21/12/2009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08376" y="3145536"/>
            <a:ext cx="1344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</a:rPr>
              <a:t>16 anos, 6m e 15d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34840" y="2615184"/>
            <a:ext cx="1554480" cy="768096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71416" y="263347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777777"/>
                </a:solidFill>
              </a:rPr>
              <a:t>PRAÇA MAIS RECENTE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34840" y="27980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5100"/>
                </a:solidFill>
              </a:rPr>
              <a:t>28/07/2025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71416" y="3145536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</a:rPr>
              <a:t>11 meses e 8 dias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7160" y="3429000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A1628"/>
                </a:solidFill>
              </a:rPr>
              <a:t>DISTRIBUIÇÃO DO TEMPO DE SERVIÇO (TODOS)</a:t>
            </a:r>
          </a:p>
        </p:txBody>
      </p:sp>
      <p:graphicFrame>
        <p:nvGraphicFramePr>
          <p:cNvPr id="99" name="Chart 98"/>
          <p:cNvGraphicFramePr>
            <a:graphicFrameLocks noGrp="1"/>
          </p:cNvGraphicFramePr>
          <p:nvPr/>
        </p:nvGraphicFramePr>
        <p:xfrm>
          <a:off x="109728" y="3593592"/>
          <a:ext cx="3090672" cy="60350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0" name="TextBox 99"/>
          <p:cNvSpPr txBox="1"/>
          <p:nvPr/>
        </p:nvSpPr>
        <p:spPr>
          <a:xfrm>
            <a:off x="3246120" y="34290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A1628"/>
                </a:solidFill>
              </a:rPr>
              <a:t>SITUAÇÃO JUDICIAL</a:t>
            </a:r>
          </a:p>
        </p:txBody>
      </p:sp>
      <p:graphicFrame>
        <p:nvGraphicFramePr>
          <p:cNvPr id="101" name="Chart 100"/>
          <p:cNvGraphicFramePr>
            <a:graphicFrameLocks noGrp="1"/>
          </p:cNvGraphicFramePr>
          <p:nvPr/>
        </p:nvGraphicFramePr>
        <p:xfrm>
          <a:off x="3182112" y="3566160"/>
          <a:ext cx="1417320" cy="640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4663440" y="34290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A1628"/>
                </a:solidFill>
              </a:rPr>
              <a:t>MILITARES X CIVIS</a:t>
            </a:r>
          </a:p>
        </p:txBody>
      </p:sp>
      <p:graphicFrame>
        <p:nvGraphicFramePr>
          <p:cNvPr id="103" name="Chart 102"/>
          <p:cNvGraphicFramePr>
            <a:graphicFrameLocks noGrp="1"/>
          </p:cNvGraphicFramePr>
          <p:nvPr/>
        </p:nvGraphicFramePr>
        <p:xfrm>
          <a:off x="4599432" y="3566160"/>
          <a:ext cx="1444752" cy="6400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04" name="Rectangle 103"/>
          <p:cNvSpPr/>
          <p:nvPr/>
        </p:nvSpPr>
        <p:spPr>
          <a:xfrm>
            <a:off x="6172200" y="2377440"/>
            <a:ext cx="5925312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172200" y="2377440"/>
            <a:ext cx="5925312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08776" y="2395728"/>
            <a:ext cx="58521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ORIGEM GEOGRÁFICA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63640" y="260604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A1628"/>
                </a:solidFill>
              </a:rPr>
              <a:t>TOP 10 CIDADES DE ORIGEM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63640" y="2770632"/>
            <a:ext cx="2606040" cy="135331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81927" y="2779776"/>
            <a:ext cx="1474927" cy="11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Cidade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93431" y="2779776"/>
            <a:ext cx="536752" cy="11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Alunos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66760" y="2779776"/>
            <a:ext cx="484632" cy="11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1" i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63640" y="2905963"/>
            <a:ext cx="2606040" cy="117043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81927" y="2915107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Salvador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93431" y="2915107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27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66760" y="2915107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29,67%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63640" y="3023006"/>
            <a:ext cx="2606040" cy="117043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281927" y="3032150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Feira de Santana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793431" y="3032150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20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66760" y="3032150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21,98%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3140049"/>
            <a:ext cx="2606040" cy="117043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281927" y="3149193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Juazeiro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793431" y="3149193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7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66760" y="3149193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7,69%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263640" y="3257092"/>
            <a:ext cx="2606040" cy="117043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81927" y="3266236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Itabuna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793431" y="3266236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66760" y="3266236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5,49%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63640" y="3374136"/>
            <a:ext cx="2606040" cy="117043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281927" y="3383280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Itaberaba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793431" y="3383280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66760" y="3383280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2,20%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63640" y="3491179"/>
            <a:ext cx="2606040" cy="117043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281927" y="3500323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Senhor do Bonfim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793431" y="3500323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66760" y="3500323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2,20%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63640" y="3608222"/>
            <a:ext cx="2606040" cy="117043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281927" y="3617366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Vitória da Conquista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793431" y="3617366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366760" y="3617366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2,20%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63640" y="3725265"/>
            <a:ext cx="2606040" cy="117043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281927" y="3734409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Lapão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793431" y="3734409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66760" y="3734409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2,20%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63640" y="3842308"/>
            <a:ext cx="2606040" cy="117043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281927" y="3851452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Lauro de Freitas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793431" y="3851452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66760" y="3851452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2,20%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263640" y="3959352"/>
            <a:ext cx="2606040" cy="117043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281927" y="3968496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Demais cidades BA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793431" y="3968496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16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366760" y="3968496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17,58%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263640" y="4076395"/>
            <a:ext cx="2606040" cy="117043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281927" y="4085539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Demais fora BA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793431" y="4085539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66760" y="4085539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7,69%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263640" y="4193438"/>
            <a:ext cx="2606040" cy="117043"/>
          </a:xfrm>
          <a:prstGeom prst="rect">
            <a:avLst/>
          </a:prstGeom>
          <a:solidFill>
            <a:srgbClr val="DDEE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281927" y="4202582"/>
            <a:ext cx="1474927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A1628"/>
                </a:solidFill>
              </a:rPr>
              <a:t>TOTAL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793431" y="4202582"/>
            <a:ext cx="53675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0A1628"/>
                </a:solidFill>
              </a:rPr>
              <a:t>91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66760" y="4202582"/>
            <a:ext cx="484632" cy="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1" i="0">
                <a:solidFill>
                  <a:srgbClr val="0A1628"/>
                </a:solidFill>
              </a:rPr>
              <a:t>100%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06840" y="2606040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A1628"/>
                </a:solidFill>
              </a:rPr>
              <a:t>DISTRIBUIÇÃO POR ESTADO (UF)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006840" y="2871216"/>
            <a:ext cx="109728" cy="20116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62288" y="283464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51B5"/>
                </a:solidFill>
              </a:rPr>
              <a:t>Bahia (BA)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789920" y="28346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</a:rPr>
              <a:t>84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173967" y="2834640"/>
            <a:ext cx="667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</a:rPr>
              <a:t>(92,31%)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006840" y="3182112"/>
            <a:ext cx="109728" cy="20116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162288" y="314553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3A047"/>
                </a:solidFill>
              </a:rPr>
              <a:t>Pernambuco (PE)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789920" y="3145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</a:rPr>
              <a:t>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173967" y="3145536"/>
            <a:ext cx="667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</a:rPr>
              <a:t>(3,30%)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006840" y="3493008"/>
            <a:ext cx="109728" cy="201168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162288" y="345643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8C00"/>
                </a:solidFill>
              </a:rPr>
              <a:t>Sergipe (SE)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789920" y="345643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</a:rPr>
              <a:t>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173967" y="3456432"/>
            <a:ext cx="667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</a:rPr>
              <a:t>(3,30%)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006840" y="3803904"/>
            <a:ext cx="109728" cy="201168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62288" y="376732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27B0"/>
                </a:solidFill>
              </a:rPr>
              <a:t>Ceará (CE)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789920" y="37673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</a:rPr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173967" y="3767328"/>
            <a:ext cx="667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</a:rPr>
              <a:t>(1,10%)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006840" y="4059936"/>
            <a:ext cx="2816352" cy="173736"/>
          </a:xfrm>
          <a:prstGeom prst="rect">
            <a:avLst/>
          </a:prstGeom>
          <a:solidFill>
            <a:srgbClr val="DDEEFF"/>
          </a:solidFill>
          <a:ln w="635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034272" y="4069080"/>
            <a:ext cx="1371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A1628"/>
                </a:solidFill>
              </a:rPr>
              <a:t>TOTAL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451592" y="406908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1628"/>
                </a:solidFill>
              </a:rPr>
              <a:t>91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927080" y="4069080"/>
            <a:ext cx="822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1628"/>
                </a:solidFill>
              </a:rPr>
              <a:t>(100%)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1440" y="4325112"/>
            <a:ext cx="214884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1440" y="4325112"/>
            <a:ext cx="2148840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28016" y="4343400"/>
            <a:ext cx="20756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FORMAÇÃO ACADÊMICA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8872" y="4544568"/>
            <a:ext cx="20939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A1628"/>
                </a:solidFill>
              </a:rPr>
              <a:t>NÍVEL DE ESCOLARIDADE</a:t>
            </a:r>
          </a:p>
        </p:txBody>
      </p:sp>
      <p:graphicFrame>
        <p:nvGraphicFramePr>
          <p:cNvPr id="185" name="Chart 184"/>
          <p:cNvGraphicFramePr>
            <a:graphicFrameLocks noGrp="1"/>
          </p:cNvGraphicFramePr>
          <p:nvPr/>
        </p:nvGraphicFramePr>
        <p:xfrm>
          <a:off x="91440" y="4672584"/>
          <a:ext cx="2148840" cy="9144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86" name="Rectangle 185"/>
          <p:cNvSpPr/>
          <p:nvPr/>
        </p:nvSpPr>
        <p:spPr>
          <a:xfrm>
            <a:off x="2331720" y="4325112"/>
            <a:ext cx="201168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2331720" y="4325112"/>
            <a:ext cx="2011680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368296" y="4343400"/>
            <a:ext cx="193852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PERFIL PESSOAL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404872" y="4544568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A1628"/>
                </a:solidFill>
              </a:rPr>
              <a:t>FILHOS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404872" y="4672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</a:rPr>
              <a:t>21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386584" y="5001768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44444"/>
                </a:solidFill>
              </a:rPr>
              <a:t>(23,08%) POSSUEM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404872" y="5202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F5350"/>
                </a:solidFill>
              </a:rPr>
              <a:t>70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386584" y="5486400"/>
            <a:ext cx="9509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444444"/>
                </a:solidFill>
              </a:rPr>
              <a:t>(76,92%) NÃO POSSUEM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337560" y="4544568"/>
            <a:ext cx="18288" cy="106984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383279" y="4544568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A1628"/>
                </a:solidFill>
              </a:rPr>
              <a:t>ARMA DE FOGO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383279" y="4672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5100"/>
                </a:solidFill>
              </a:rPr>
              <a:t>14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364991" y="5001768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44444"/>
                </a:solidFill>
              </a:rPr>
              <a:t>(15,38%) POSSUEM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383279" y="5202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F5350"/>
                </a:solidFill>
              </a:rPr>
              <a:t>77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364991" y="5486400"/>
            <a:ext cx="9509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444444"/>
                </a:solidFill>
              </a:rPr>
              <a:t>(84,62%) NÃO POSSUEM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434840" y="4325112"/>
            <a:ext cx="210312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434840" y="4325112"/>
            <a:ext cx="2103120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471416" y="4343400"/>
            <a:ext cx="20299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PLANOS DE SAÚDE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507992" y="4535424"/>
            <a:ext cx="1956816" cy="1252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526279" y="4544568"/>
            <a:ext cx="1039672" cy="10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Plano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602528" y="4544568"/>
            <a:ext cx="393923" cy="10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033028" y="4544568"/>
            <a:ext cx="413491" cy="10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1" i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507992" y="4660696"/>
            <a:ext cx="1956816" cy="106984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526279" y="4669840"/>
            <a:ext cx="1039672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PLANSERV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602528" y="4669840"/>
            <a:ext cx="393923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50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033028" y="4669840"/>
            <a:ext cx="413491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54,95%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507992" y="4767681"/>
            <a:ext cx="1956816" cy="10698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526279" y="4776825"/>
            <a:ext cx="1039672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NÃO SE APLICA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602528" y="4776825"/>
            <a:ext cx="393923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19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033028" y="4776825"/>
            <a:ext cx="413491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20,88%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507992" y="4874666"/>
            <a:ext cx="1956816" cy="106984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526279" y="4883810"/>
            <a:ext cx="1039672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UNIMED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602528" y="4883810"/>
            <a:ext cx="393923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9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033028" y="4883810"/>
            <a:ext cx="413491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9,89%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507992" y="4981651"/>
            <a:ext cx="1956816" cy="10698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526279" y="4990795"/>
            <a:ext cx="1039672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HAPVIDA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02528" y="4990795"/>
            <a:ext cx="393923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033028" y="4990795"/>
            <a:ext cx="413491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1,10%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507992" y="5088636"/>
            <a:ext cx="1956816" cy="106984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526279" y="5097780"/>
            <a:ext cx="1039672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FUSEX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602528" y="5097780"/>
            <a:ext cx="393923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033028" y="5097780"/>
            <a:ext cx="413491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1,10%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4507992" y="5195620"/>
            <a:ext cx="1956816" cy="10698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4526279" y="5204764"/>
            <a:ext cx="1039672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GEAP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5602528" y="5204764"/>
            <a:ext cx="393923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033028" y="5204764"/>
            <a:ext cx="413491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1,10%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4507992" y="5302605"/>
            <a:ext cx="1956816" cy="106984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4526279" y="5311749"/>
            <a:ext cx="1039672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BRADESCO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602528" y="5311749"/>
            <a:ext cx="393923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033028" y="5311749"/>
            <a:ext cx="413491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1,10%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4507992" y="5409590"/>
            <a:ext cx="1956816" cy="10698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526279" y="5418734"/>
            <a:ext cx="1039672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SULAMERICA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602528" y="5418734"/>
            <a:ext cx="393923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033028" y="5418734"/>
            <a:ext cx="413491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1,10%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507992" y="5516575"/>
            <a:ext cx="1956816" cy="106984"/>
          </a:xfrm>
          <a:prstGeom prst="rect">
            <a:avLst/>
          </a:prstGeom>
          <a:solidFill>
            <a:srgbClr val="DDEE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4526279" y="5525719"/>
            <a:ext cx="1039672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A1628"/>
                </a:solidFill>
              </a:rPr>
              <a:t>TOTAL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602528" y="5525719"/>
            <a:ext cx="393923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0A1628"/>
                </a:solidFill>
              </a:rPr>
              <a:t>91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033028" y="5525719"/>
            <a:ext cx="413491" cy="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1" i="0">
                <a:solidFill>
                  <a:srgbClr val="0A1628"/>
                </a:solidFill>
              </a:rPr>
              <a:t>100%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6629400" y="4325112"/>
            <a:ext cx="1874519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29400" y="4325112"/>
            <a:ext cx="1874519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6665976" y="4343400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FATOR SANGUÍNEO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702552" y="4535424"/>
            <a:ext cx="1728216" cy="150875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720840" y="4544568"/>
            <a:ext cx="620146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Fator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7377562" y="4544568"/>
            <a:ext cx="447324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861462" y="4544568"/>
            <a:ext cx="551017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1" i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702552" y="4686300"/>
            <a:ext cx="1728216" cy="132588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720840" y="4695444"/>
            <a:ext cx="620146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O+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377562" y="4695444"/>
            <a:ext cx="447324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43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861462" y="4695444"/>
            <a:ext cx="551017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47,25%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6702552" y="4818888"/>
            <a:ext cx="1728216" cy="1325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720840" y="4828031"/>
            <a:ext cx="620146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A+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377562" y="4828031"/>
            <a:ext cx="447324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26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861462" y="4828031"/>
            <a:ext cx="551017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28,57%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6702552" y="4951476"/>
            <a:ext cx="1728216" cy="132588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6720840" y="4960620"/>
            <a:ext cx="620146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B+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377562" y="4960620"/>
            <a:ext cx="447324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10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861462" y="4960620"/>
            <a:ext cx="551017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10,99%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6702552" y="5084064"/>
            <a:ext cx="1728216" cy="1325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720840" y="5093207"/>
            <a:ext cx="620146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A-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377562" y="5093207"/>
            <a:ext cx="447324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861462" y="5093207"/>
            <a:ext cx="551017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5,49%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702552" y="5216652"/>
            <a:ext cx="1728216" cy="132588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6720840" y="5225796"/>
            <a:ext cx="620146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O-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377562" y="5225796"/>
            <a:ext cx="447324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861462" y="5225796"/>
            <a:ext cx="551017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3,30%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6702552" y="5349240"/>
            <a:ext cx="1728216" cy="1325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20840" y="5358383"/>
            <a:ext cx="620146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AB+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7377562" y="5358383"/>
            <a:ext cx="447324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861462" y="5358383"/>
            <a:ext cx="551017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2,20%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702552" y="5481828"/>
            <a:ext cx="1728216" cy="132588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6720840" y="5490972"/>
            <a:ext cx="620146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33333"/>
                </a:solidFill>
              </a:rPr>
              <a:t>B-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377562" y="5490972"/>
            <a:ext cx="447324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7861462" y="5490972"/>
            <a:ext cx="551017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333333"/>
                </a:solidFill>
              </a:rPr>
              <a:t>1,10%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02552" y="5614416"/>
            <a:ext cx="1728216" cy="132588"/>
          </a:xfrm>
          <a:prstGeom prst="rect">
            <a:avLst/>
          </a:prstGeom>
          <a:solidFill>
            <a:srgbClr val="FFEBEE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720840" y="5623559"/>
            <a:ext cx="620146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A1628"/>
                </a:solidFill>
              </a:rPr>
              <a:t>TOTAL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7377562" y="5623559"/>
            <a:ext cx="447324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0A1628"/>
                </a:solidFill>
              </a:rPr>
              <a:t>91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861462" y="5623559"/>
            <a:ext cx="551017" cy="11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1" i="0">
                <a:solidFill>
                  <a:srgbClr val="0A1628"/>
                </a:solidFill>
              </a:rPr>
              <a:t>100%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577072" y="4325112"/>
            <a:ext cx="352044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577072" y="4325112"/>
            <a:ext cx="3520440" cy="1920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8613648" y="4343400"/>
            <a:ext cx="34472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DISTRIBUIÇÃO POR PELOTÃO</a:t>
            </a:r>
          </a:p>
        </p:txBody>
      </p:sp>
      <p:graphicFrame>
        <p:nvGraphicFramePr>
          <p:cNvPr id="285" name="Chart 284"/>
          <p:cNvGraphicFramePr>
            <a:graphicFrameLocks noGrp="1"/>
          </p:cNvGraphicFramePr>
          <p:nvPr/>
        </p:nvGraphicFramePr>
        <p:xfrm>
          <a:off x="8668512" y="4535424"/>
          <a:ext cx="3337560" cy="1078992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86" name="Rectangle 285"/>
          <p:cNvSpPr/>
          <p:nvPr/>
        </p:nvSpPr>
        <p:spPr>
          <a:xfrm>
            <a:off x="0" y="5733288"/>
            <a:ext cx="12188952" cy="85953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91440" y="5760720"/>
            <a:ext cx="1197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A020"/>
                </a:solidFill>
              </a:rPr>
              <a:t>PERFIL DO FUTURO OFICIAL DA PMBA 2026.2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109728" y="5971031"/>
            <a:ext cx="1638082" cy="566928"/>
          </a:xfrm>
          <a:prstGeom prst="rect">
            <a:avLst/>
          </a:prstGeom>
          <a:solidFill>
            <a:srgbClr val="132B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55448" y="5989320"/>
            <a:ext cx="154664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FFFFFF"/>
                </a:solidFill>
              </a:rPr>
              <a:t>Predominantemente
masculino: 79,12%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820962" y="5971031"/>
            <a:ext cx="1638082" cy="566928"/>
          </a:xfrm>
          <a:prstGeom prst="rect">
            <a:avLst/>
          </a:prstGeom>
          <a:solidFill>
            <a:srgbClr val="132B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866682" y="5989320"/>
            <a:ext cx="154664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FFFFFF"/>
                </a:solidFill>
              </a:rPr>
              <a:t>Mais da metade já é
policial militar: 54,95%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3532196" y="5971031"/>
            <a:ext cx="1638082" cy="566928"/>
          </a:xfrm>
          <a:prstGeom prst="rect">
            <a:avLst/>
          </a:prstGeom>
          <a:solidFill>
            <a:srgbClr val="132B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3577916" y="5989320"/>
            <a:ext cx="154664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FFFFFF"/>
                </a:solidFill>
              </a:rPr>
              <a:t>Experiência média geral
3,12 anos (incorp.: 5,80)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243430" y="5971031"/>
            <a:ext cx="1638082" cy="566928"/>
          </a:xfrm>
          <a:prstGeom prst="rect">
            <a:avLst/>
          </a:prstGeom>
          <a:solidFill>
            <a:srgbClr val="132B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5289150" y="5989320"/>
            <a:ext cx="154664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FFFFFF"/>
                </a:solidFill>
              </a:rPr>
              <a:t>45,05% possuem
superior completo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6954665" y="5971031"/>
            <a:ext cx="1638082" cy="566928"/>
          </a:xfrm>
          <a:prstGeom prst="rect">
            <a:avLst/>
          </a:prstGeom>
          <a:solidFill>
            <a:srgbClr val="132B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7000385" y="5989320"/>
            <a:ext cx="154664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FFFFFF"/>
                </a:solidFill>
              </a:rPr>
              <a:t>79,12% possuem
plano de saúde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8665899" y="5971031"/>
            <a:ext cx="1638082" cy="566928"/>
          </a:xfrm>
          <a:prstGeom prst="rect">
            <a:avLst/>
          </a:prstGeom>
          <a:solidFill>
            <a:srgbClr val="132B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8711619" y="5989320"/>
            <a:ext cx="154664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FFFFFF"/>
                </a:solidFill>
              </a:rPr>
              <a:t>93,41% naturais da
Bahia ou estados citados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10377133" y="5971031"/>
            <a:ext cx="1638082" cy="566928"/>
          </a:xfrm>
          <a:prstGeom prst="rect">
            <a:avLst/>
          </a:prstGeom>
          <a:solidFill>
            <a:srgbClr val="132B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0422853" y="5989320"/>
            <a:ext cx="154664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FFFFFF"/>
                </a:solidFill>
              </a:rPr>
              <a:t>Compromisso, Disciplina
e Honra à sociedade baiana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91440" y="6675120"/>
            <a:ext cx="1197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</a:rPr>
              <a:t>Fonte: Documentos oficiais da APM – PMBA  |  Dados consolidados em Maio/2025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